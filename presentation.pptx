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84692dc3241d3" /><Relationship Type="http://schemas.openxmlformats.org/officeDocument/2006/relationships/extended-properties" Target="/docProps/app.xml" Id="R4cb2743fdd8a4787" /><Relationship Type="http://schemas.openxmlformats.org/officeDocument/2006/relationships/officeDocument" Target="/ppt/presentation.xml" Id="R54d68c42eb8f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1cb4b56ea349cc"/>
  </p:sldMasterIdLst>
  <p:notesMasterIdLst>
    <p:notesMasterId xmlns:r="http://schemas.openxmlformats.org/officeDocument/2006/relationships" r:id="Rcecd8e03985e4259"/>
  </p:notesMasterIdLst>
  <p:sldIdLst>
    <p:sldId xmlns:r="http://schemas.openxmlformats.org/officeDocument/2006/relationships" id="256" r:id="Radd8d1c74bbf4d87"/>
    <p:sldId xmlns:r="http://schemas.openxmlformats.org/officeDocument/2006/relationships" id="257" r:id="R35a807cb11a743a1"/>
    <p:sldId xmlns:r="http://schemas.openxmlformats.org/officeDocument/2006/relationships" id="258" r:id="R53b699449d6f4820"/>
    <p:sldId xmlns:r="http://schemas.openxmlformats.org/officeDocument/2006/relationships" id="259" r:id="R0b56402086d546f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50fb864a5b4869" /><Relationship Type="http://schemas.openxmlformats.org/officeDocument/2006/relationships/slideMaster" Target="/ppt/slideMasters/slideMaster1.xml" Id="R981cb4b56ea349cc" /><Relationship Type="http://schemas.openxmlformats.org/officeDocument/2006/relationships/notesMaster" Target="/ppt/notesMasters/notesMaster1.xml" Id="Rcecd8e03985e4259" /><Relationship Type="http://schemas.openxmlformats.org/officeDocument/2006/relationships/presProps" Target="/ppt/presProps.xml" Id="R61d25fb741db4ca8" /><Relationship Type="http://schemas.openxmlformats.org/officeDocument/2006/relationships/viewProps" Target="/ppt/viewProps.xml" Id="Rdd3da5c4c36e4c14" /><Relationship Type="http://schemas.openxmlformats.org/officeDocument/2006/relationships/tableStyles" Target="/ppt/tableStyles.xml" Id="Ra632a026d7724b70" /><Relationship Type="http://schemas.openxmlformats.org/officeDocument/2006/relationships/slide" Target="/ppt/slides/slide1.xml" Id="Radd8d1c74bbf4d87" /><Relationship Type="http://schemas.openxmlformats.org/officeDocument/2006/relationships/slide" Target="/ppt/slides/slide2.xml" Id="R35a807cb11a743a1" /><Relationship Type="http://schemas.openxmlformats.org/officeDocument/2006/relationships/slide" Target="/ppt/slides/slide3.xml" Id="R53b699449d6f4820" /><Relationship Type="http://schemas.openxmlformats.org/officeDocument/2006/relationships/slide" Target="/ppt/slides/slide4.xml" Id="R0b56402086d5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0a10fe2633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8e6cee0b247fe" /><Relationship Type="http://schemas.openxmlformats.org/officeDocument/2006/relationships/notesMaster" Target="/ppt/notesMasters/notesMaster1.xml" Id="R496862d4d10d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b461b31a2d474a" /><Relationship Type="http://schemas.openxmlformats.org/officeDocument/2006/relationships/notesMaster" Target="/ppt/notesMasters/notesMaster1.xml" Id="R08ef3d43b50c4d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a9992ccf2457b" /><Relationship Type="http://schemas.openxmlformats.org/officeDocument/2006/relationships/notesMaster" Target="/ppt/notesMasters/notesMaster1.xml" Id="R599380fa466841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176775c7942ba" /><Relationship Type="http://schemas.openxmlformats.org/officeDocument/2006/relationships/notesMaster" Target="/ppt/notesMasters/notesMaster1.xml" Id="Refd3d085b65b4f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 30 秒：先说明使用者和问题。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内容来自原始学生工作 presentation.pptx；无外部素材。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秒：先说基线，再说候选方法，最后落到两个验证函数。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内容来自原始学生工作 presentation.pptx；无外部素材。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秒：强调三条证据分别回答代码、计划、反例三个问题。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内容来自原始学生工作 presentation.pptx；无外部素材。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秒：用失败案例说明边界，并以学生下一步收束。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内容来自原始学生工作 presentation.pptx；无外部素材。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6563442994e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c33a27bca4f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1d61532264f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ada658bda43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1042f396e40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4d109d86e42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c1ed0add94d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e9f1bc5a445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ad10a116f46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cc730ee88a40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d863d82a1430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70611F-B909-44EA-838E-BA5555D52F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21786C-0309-4B5D-9C83-03A5E27DB7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F1C0A6-B2FA-4E5C-9840-BA3708FE96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3365A1-878B-4ECC-9FF5-A953BFBB8B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06EF25-826F-463C-85C4-E4BC66C22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77320E-7B9D-4784-81D4-EFD1082396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765177-7F4B-4D34-AD5A-67BD47EA42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D432BC-A2D8-4197-84D2-F42D1D359D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23A34F-50C9-4344-B451-E748AD01C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F30835-7C54-45C3-A200-25487B913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CF2F92-3BEE-4B98-AC09-C549DD312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4FAF98-6719-48CA-9719-02816DB8B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1E75480-B647-47D4-8AA9-781DB157AA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DC3E82-1CE2-444F-BE47-D4E85BFC5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D92B2A-B067-47AE-B660-378B8DEE80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0AF8DB-9D13-4B04-9192-BD7A48C6A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15DA87-F683-4FF0-A90C-3297F6F49B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0ED4695-7F88-434F-B1D4-FE4D5CB3CC8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C0D5CF-9D2D-473E-A6C9-04892A11CF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CD94789-5A9E-4E37-94DC-13FB4F7FD2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A0339D8-943D-4CCE-89DB-27CB43473A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023624-5EAB-49B5-A2B5-4D55F3A50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BA332D-28E2-46D2-B7F7-53559AC6E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CB242F5-3F00-48BD-BD90-567C7E3E9E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123680C-2817-4BF7-9DE8-326719E80F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CB9648B-6C17-4DED-9F26-42EC252FCA8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49A54CC-22CC-4292-9F33-BDE9D17403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BE287E-28F6-45A3-9ACB-861DC17414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C33DDFD-75DE-498A-B368-3B81D451F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691597-7E28-438D-8C45-DA761E26A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12D873F-DD72-4277-975E-506B988099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A62A74F-EEFE-4F3F-A263-811FA7D62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57F63C7-E077-4997-B10E-87C01309B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A4E4818-B764-4B64-ADF6-B62657111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96FD73C-0D29-4143-9DF8-E3B3AB4D96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43A8E7A-42E0-4AFF-B446-B8D88C3C7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B05CC5-80CA-433A-A746-514002033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FE9D7B-569E-4735-B516-EDA667E4E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5CF6D6B-5582-46F8-BCDD-658C6CACBB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C7C53B-4073-4287-80E0-076E4EA418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776D74-5FB7-439C-ADE5-8FF7CF6D86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6A4CA86-C4F0-4038-916A-2EBC6346D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4463E3-2D10-47FE-AC94-6F3DF9514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DC401FD-B9F6-45F5-84BF-F51CB9B56F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BA7591-E89F-4248-B38E-2538076145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DE2328C-A1DA-441E-823D-93EA0F4AB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D6BC-8731-460A-AABD-EBCA0D4FAF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4883630-9A3A-4D01-ABAE-8883536C22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60F3A4-D719-478B-B78D-ABFDE7E4C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1362C4-8142-4F32-94AA-FA1C16410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4F29467-F996-43A3-986B-E9BD329F9A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CA79EC-9C39-4267-AF30-A971D834D4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FC7316-6D02-4BB8-9017-447E2CC3A2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9EE36E1-4B2B-421E-883A-905F373E7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648260-5065-46D9-B6B6-226099403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25F1A0-D8ED-484B-9A8F-5E04CBB407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7F3E90-36FE-4AFA-95BB-FF7BC496E2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47A351-9962-4BDD-A2D1-1AA85C5F07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39b4076f1453e" /><Relationship Type="http://schemas.openxmlformats.org/officeDocument/2006/relationships/slideLayout" Target="/ppt/slideLayouts/slideLayout1.xml" Id="Rfd620ca5aa804959" /><Relationship Type="http://schemas.openxmlformats.org/officeDocument/2006/relationships/slideLayout" Target="/ppt/slideLayouts/slideLayout2.xml" Id="R7c64774ae325482e" /><Relationship Type="http://schemas.openxmlformats.org/officeDocument/2006/relationships/slideLayout" Target="/ppt/slideLayouts/slideLayout3.xml" Id="R2d0e756a76ef41e9" /><Relationship Type="http://schemas.openxmlformats.org/officeDocument/2006/relationships/slideLayout" Target="/ppt/slideLayouts/slideLayout4.xml" Id="R4ef381746b5140eb" /><Relationship Type="http://schemas.openxmlformats.org/officeDocument/2006/relationships/slideLayout" Target="/ppt/slideLayouts/slideLayout5.xml" Id="R27222e3e2e4842d4" /><Relationship Type="http://schemas.openxmlformats.org/officeDocument/2006/relationships/slideLayout" Target="/ppt/slideLayouts/slideLayout6.xml" Id="Rafa9813bb4164669" /><Relationship Type="http://schemas.openxmlformats.org/officeDocument/2006/relationships/slideLayout" Target="/ppt/slideLayouts/slideLayout7.xml" Id="R9a03fe9b7b314f4d" /><Relationship Type="http://schemas.openxmlformats.org/officeDocument/2006/relationships/slideLayout" Target="/ppt/slideLayouts/slideLayout8.xml" Id="Rdd9395465294407f" /><Relationship Type="http://schemas.openxmlformats.org/officeDocument/2006/relationships/slideLayout" Target="/ppt/slideLayouts/slideLayout9.xml" Id="Re751b77bbf6f45a6" /><Relationship Type="http://schemas.openxmlformats.org/officeDocument/2006/relationships/slideLayout" Target="/ppt/slideLayouts/slideLayout10.xml" Id="R9c148359d49546d3" /><Relationship Type="http://schemas.openxmlformats.org/officeDocument/2006/relationships/slideLayout" Target="/ppt/slideLayouts/slideLayout11.xml" Id="R8c9d878c2ada45c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B9C7263-1242-487D-B1EA-C71AA3C620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376A51-E746-4F51-9E6A-583D02C2AB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25DE4D-D666-443C-AF43-D53065C3B37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FD6F19-926B-4ADF-8A68-1D8E1D37FA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45A369-83BC-4D1F-91D5-3B02E78718D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20ca5aa804959"/>
    <p:sldLayoutId xmlns:r="http://schemas.openxmlformats.org/officeDocument/2006/relationships" id="2147483650" r:id="R7c64774ae325482e"/>
    <p:sldLayoutId xmlns:r="http://schemas.openxmlformats.org/officeDocument/2006/relationships" id="2147483651" r:id="R2d0e756a76ef41e9"/>
    <p:sldLayoutId xmlns:r="http://schemas.openxmlformats.org/officeDocument/2006/relationships" id="2147483652" r:id="R4ef381746b5140eb"/>
    <p:sldLayoutId xmlns:r="http://schemas.openxmlformats.org/officeDocument/2006/relationships" id="2147483653" r:id="R27222e3e2e4842d4"/>
    <p:sldLayoutId xmlns:r="http://schemas.openxmlformats.org/officeDocument/2006/relationships" id="2147483654" r:id="Rafa9813bb4164669"/>
    <p:sldLayoutId xmlns:r="http://schemas.openxmlformats.org/officeDocument/2006/relationships" id="2147483655" r:id="R9a03fe9b7b314f4d"/>
    <p:sldLayoutId xmlns:r="http://schemas.openxmlformats.org/officeDocument/2006/relationships" id="2147483656" r:id="Rdd9395465294407f"/>
    <p:sldLayoutId xmlns:r="http://schemas.openxmlformats.org/officeDocument/2006/relationships" id="2147483657" r:id="Re751b77bbf6f45a6"/>
    <p:sldLayoutId xmlns:r="http://schemas.openxmlformats.org/officeDocument/2006/relationships" id="2147483658" r:id="R9c148359d49546d3"/>
    <p:sldLayoutId xmlns:r="http://schemas.openxmlformats.org/officeDocument/2006/relationships" id="2147483659" r:id="R8c9d878c2ada45c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686e5b602244d2" /><Relationship Type="http://schemas.openxmlformats.org/officeDocument/2006/relationships/notesSlide" Target="/ppt/notesSlides/notesSlide1.xml" Id="Rb9a5ae7e2d294a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d0137160a749cc" /><Relationship Type="http://schemas.openxmlformats.org/officeDocument/2006/relationships/notesSlide" Target="/ppt/notesSlides/notesSlide2.xml" Id="Ra9d26836136d46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dab812c4f4588" /><Relationship Type="http://schemas.openxmlformats.org/officeDocument/2006/relationships/notesSlide" Target="/ppt/notesSlides/notesSlide3.xml" Id="R5c0884a56b35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27f4e3c3b4d4a" /><Relationship Type="http://schemas.openxmlformats.org/officeDocument/2006/relationships/notesSlide" Target="/ppt/notesSlides/notesSlide4.xml" Id="R550d07c3e44b41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A8495B-391F-4087-996D-11230B1E6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38150"/>
            <a:ext cx="9334500" cy="66675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问题与使用者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33AC50-8F4A-4423-9C2A-E9067396BA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695450"/>
            <a:ext cx="6477000" cy="4000500"/>
          </a:xfrm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核心任务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把 AI 生成的 Day 1 学习计划，变成学生真正能执行、能检查的下一步。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使用者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第一次做真实编程项目、需要知道下一步的学生小组。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真实输入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课程仓库 + Day 1 文件 + learning-plan.json。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输出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8 阶段计划 + 能验证它的检查器。</a:t>
            </a:r>
          </a:p>
        </p:txBody>
      </p:sp>
      <p:sp>
        <p:nvSpPr>
          <p:cNvPr id="4" name="background-band-1">
            <a:extLst xmlns:a="http://schemas.openxmlformats.org/drawingml/2006/main">
              <a:ext uri="{FF2B5EF4-FFF2-40B4-BE49-F238E27FC236}">
                <a16:creationId xmlns:a16="http://schemas.microsoft.com/office/drawing/2014/main" id="{81B58018-D046-424F-8421-AC4F8072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background-top-rule-1">
            <a:extLst xmlns:a="http://schemas.openxmlformats.org/drawingml/2006/main">
              <a:ext uri="{FF2B5EF4-FFF2-40B4-BE49-F238E27FC236}">
                <a16:creationId xmlns:a16="http://schemas.microsoft.com/office/drawing/2014/main" id="{FE21AAE6-ABC2-4344-A2BF-A938E99F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10744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tag-约 30 秒">
            <a:extLst xmlns:a="http://schemas.openxmlformats.org/drawingml/2006/main">
              <a:ext uri="{FF2B5EF4-FFF2-40B4-BE49-F238E27FC236}">
                <a16:creationId xmlns:a16="http://schemas.microsoft.com/office/drawing/2014/main" id="{46F4AA01-F894-4AE8-90E7-8978CE1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24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  <p:txBody>
          <a:bodyPr xmlns:a="http://schemas.openxmlformats.org/drawingml/2006/main" anchor="ctr">
            <a:normAutofit fontScale="607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约 30 秒</a:t>
            </a:r>
          </a:p>
        </p:txBody>
      </p:sp>
      <p:sp>
        <p:nvSpPr>
          <p:cNvPr id="7" name="s1-subtitle">
            <a:extLst xmlns:a="http://schemas.openxmlformats.org/drawingml/2006/main">
              <a:ext uri="{FF2B5EF4-FFF2-40B4-BE49-F238E27FC236}">
                <a16:creationId xmlns:a16="http://schemas.microsoft.com/office/drawing/2014/main" id="{C9DB3748-2B83-4FCB-91FB-96CF8411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问题不是“AI 能不能写计划”，而是“计划能不能带着学生走完下一步”。</a:t>
            </a:r>
          </a:p>
        </p:txBody>
      </p:sp>
      <p:sp>
        <p:nvSpPr>
          <p:cNvPr id="8" name="s1-flow">
            <a:extLst xmlns:a="http://schemas.openxmlformats.org/drawingml/2006/main">
              <a:ext uri="{FF2B5EF4-FFF2-40B4-BE49-F238E27FC236}">
                <a16:creationId xmlns:a16="http://schemas.microsoft.com/office/drawing/2014/main" id="{0F17E296-5A8C-4BC7-BDDD-5D90AD30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09750"/>
            <a:ext cx="3619500" cy="363855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s1-flow-label">
            <a:extLst xmlns:a="http://schemas.openxmlformats.org/drawingml/2006/main">
              <a:ext uri="{FF2B5EF4-FFF2-40B4-BE49-F238E27FC236}">
                <a16:creationId xmlns:a16="http://schemas.microsoft.com/office/drawing/2014/main" id="{7C69399F-18FE-48A2-890B-013FF9E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从草稿到证据</a:t>
            </a:r>
          </a:p>
        </p:txBody>
      </p:sp>
      <p:sp>
        <p:nvSpPr>
          <p:cNvPr id="10" name="s1-flow-a">
            <a:extLst xmlns:a="http://schemas.openxmlformats.org/drawingml/2006/main">
              <a:ext uri="{FF2B5EF4-FFF2-40B4-BE49-F238E27FC236}">
                <a16:creationId xmlns:a16="http://schemas.microsoft.com/office/drawing/2014/main" id="{5C4AA9A2-0726-4E30-B4DB-43D28D1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276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FDECE9"/>
            </a:solidFill>
            <a:prstDash val="solid"/>
          </a:ln>
        </p:spPr>
      </p:sp>
      <p:sp>
        <p:nvSpPr>
          <p:cNvPr id="11" name="s1-flow-a-t">
            <a:extLst xmlns:a="http://schemas.openxmlformats.org/drawingml/2006/main">
              <a:ext uri="{FF2B5EF4-FFF2-40B4-BE49-F238E27FC236}">
                <a16:creationId xmlns:a16="http://schemas.microsoft.com/office/drawing/2014/main" id="{94843AB5-90A0-4E14-9455-8CCD70A8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AI 草稿</a:t>
            </a:r>
          </a:p>
          <a:p xmlns:a="http://schemas.openxmlformats.org/drawingml/2006/main">
            <a:pPr algn="l">
              <a:defRPr sz="1275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可能漏文件 / 漏环节</a:t>
            </a:r>
          </a:p>
        </p:txBody>
      </p:sp>
      <p:sp>
        <p:nvSpPr>
          <p:cNvPr id="12" name="s1-flow-arrow1">
            <a:extLst xmlns:a="http://schemas.openxmlformats.org/drawingml/2006/main">
              <a:ext uri="{FF2B5EF4-FFF2-40B4-BE49-F238E27FC236}">
                <a16:creationId xmlns:a16="http://schemas.microsoft.com/office/drawing/2014/main" id="{CB786534-4850-4AA4-A262-DCFBB0D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2667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s1-flow-b">
            <a:extLst xmlns:a="http://schemas.openxmlformats.org/drawingml/2006/main">
              <a:ext uri="{FF2B5EF4-FFF2-40B4-BE49-F238E27FC236}">
                <a16:creationId xmlns:a16="http://schemas.microsoft.com/office/drawing/2014/main" id="{03435ADB-AB0B-430D-BB46-E6877F21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76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4" name="s1-flow-b-t">
            <a:extLst xmlns:a="http://schemas.openxmlformats.org/drawingml/2006/main">
              <a:ext uri="{FF2B5EF4-FFF2-40B4-BE49-F238E27FC236}">
                <a16:creationId xmlns:a16="http://schemas.microsoft.com/office/drawing/2014/main" id="{1FD23D92-D080-4737-AADB-1114AA1F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433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结构化计划</a:t>
            </a:r>
          </a:p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8 阶段 / 有真实路径</a:t>
            </a:r>
          </a:p>
        </p:txBody>
      </p:sp>
      <p:sp>
        <p:nvSpPr>
          <p:cNvPr id="15" name="s1-flow-arrow2">
            <a:extLst xmlns:a="http://schemas.openxmlformats.org/drawingml/2006/main">
              <a:ext uri="{FF2B5EF4-FFF2-40B4-BE49-F238E27FC236}">
                <a16:creationId xmlns:a16="http://schemas.microsoft.com/office/drawing/2014/main" id="{4FBEBBFF-66B0-4AB1-AB47-5C3A3B72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2667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16" name="s1-flow-c">
            <a:extLst xmlns:a="http://schemas.openxmlformats.org/drawingml/2006/main">
              <a:ext uri="{FF2B5EF4-FFF2-40B4-BE49-F238E27FC236}">
                <a16:creationId xmlns:a16="http://schemas.microsoft.com/office/drawing/2014/main" id="{480820EC-9F1E-44CB-BAB8-153D693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2762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</p:sp>
      <p:sp>
        <p:nvSpPr>
          <p:cNvPr id="17" name="s1-flow-c-t">
            <a:extLst xmlns:a="http://schemas.openxmlformats.org/drawingml/2006/main">
              <a:ext uri="{FF2B5EF4-FFF2-40B4-BE49-F238E27FC236}">
                <a16:creationId xmlns:a16="http://schemas.microsoft.com/office/drawing/2014/main" id="{49E607B5-7BAA-4246-91FB-620BD807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10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可检查输出</a:t>
            </a:r>
          </a:p>
          <a:p xmlns:a="http://schemas.openxmlformats.org/drawingml/2006/main">
            <a:pPr algn="l">
              <a:defRPr sz="1275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测试 + 反例 + 证据文件</a:t>
            </a:r>
          </a:p>
        </p:txBody>
      </p:sp>
      <p:sp>
        <p:nvSpPr>
          <p:cNvPr id="1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ACA3B5D-A607-49E2-9D21-377DD705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9" name="footer-1">
            <a:extLst xmlns:a="http://schemas.openxmlformats.org/drawingml/2006/main">
              <a:ext uri="{FF2B5EF4-FFF2-40B4-BE49-F238E27FC236}">
                <a16:creationId xmlns:a16="http://schemas.microsoft.com/office/drawing/2014/main" id="{F8185077-6C96-4FB4-8ADA-1C7CCCD5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DAY 0  /  学习计划检查器</a:t>
            </a:r>
          </a:p>
        </p:txBody>
      </p:sp>
      <p:sp>
        <p:nvSpPr>
          <p:cNvPr id="20" name="page-1">
            <a:extLst xmlns:a="http://schemas.openxmlformats.org/drawingml/2006/main">
              <a:ext uri="{FF2B5EF4-FFF2-40B4-BE49-F238E27FC236}">
                <a16:creationId xmlns:a16="http://schemas.microsoft.com/office/drawing/2014/main" id="{39F4C8DE-B8CA-488F-ABF5-05EC2E2E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5710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B3C6D-7B1C-464D-BE07-BBE42156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38150"/>
            <a:ext cx="9334500" cy="66675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方法与基线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C0F505-527F-46F8-9AA9-C322079C2C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695450"/>
            <a:ext cx="6477000" cy="4000500"/>
          </a:xfrm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基线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直接相信智能体计划，不检查路径、时间和环节。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候选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JSON 结构化 + 测试 + 真实路径检查。</a:t>
            </a:r>
          </a:p>
        </p:txBody>
      </p:sp>
      <p:sp>
        <p:nvSpPr>
          <p:cNvPr id="4" name="background-band-2">
            <a:extLst xmlns:a="http://schemas.openxmlformats.org/drawingml/2006/main">
              <a:ext uri="{FF2B5EF4-FFF2-40B4-BE49-F238E27FC236}">
                <a16:creationId xmlns:a16="http://schemas.microsoft.com/office/drawing/2014/main" id="{AF3EEBA3-C41F-4155-915D-8D08FBEE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5" name="background-top-rule-2">
            <a:extLst xmlns:a="http://schemas.openxmlformats.org/drawingml/2006/main">
              <a:ext uri="{FF2B5EF4-FFF2-40B4-BE49-F238E27FC236}">
                <a16:creationId xmlns:a16="http://schemas.microsoft.com/office/drawing/2014/main" id="{1AC093EC-C26A-4A5B-B3F8-77D66D5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10744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  <a:prstDash val="solid"/>
          </a:ln>
        </p:spPr>
      </p:sp>
      <p:sp>
        <p:nvSpPr>
          <p:cNvPr id="6" name="tag-约 45 秒">
            <a:extLst xmlns:a="http://schemas.openxmlformats.org/drawingml/2006/main">
              <a:ext uri="{FF2B5EF4-FFF2-40B4-BE49-F238E27FC236}">
                <a16:creationId xmlns:a16="http://schemas.microsoft.com/office/drawing/2014/main" id="{DD8D602A-0077-424C-9369-52FD0F67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24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  <p:txBody>
          <a:bodyPr xmlns:a="http://schemas.openxmlformats.org/drawingml/2006/main" anchor="ctr">
            <a:normAutofit fontScale="607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约 45 秒</a:t>
            </a:r>
          </a:p>
        </p:txBody>
      </p:sp>
      <p:sp>
        <p:nvSpPr>
          <p:cNvPr id="7" name="s2-subtitle">
            <a:extLst xmlns:a="http://schemas.openxmlformats.org/drawingml/2006/main">
              <a:ext uri="{FF2B5EF4-FFF2-40B4-BE49-F238E27FC236}">
                <a16:creationId xmlns:a16="http://schemas.microsoft.com/office/drawing/2014/main" id="{8AC6E34A-17A0-47A9-B78A-A07E59A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把“相信 AI”改成“让计划先通过检查，再交给学生”。</a:t>
            </a:r>
          </a:p>
        </p:txBody>
      </p:sp>
      <p:sp>
        <p:nvSpPr>
          <p:cNvPr id="8" name="s2-compare">
            <a:extLst xmlns:a="http://schemas.openxmlformats.org/drawingml/2006/main">
              <a:ext uri="{FF2B5EF4-FFF2-40B4-BE49-F238E27FC236}">
                <a16:creationId xmlns:a16="http://schemas.microsoft.com/office/drawing/2014/main" id="{484EA76B-FA3A-4210-8B68-1EE0EAC2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619500" cy="16954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s2-compare-head">
            <a:extLst xmlns:a="http://schemas.openxmlformats.org/drawingml/2006/main">
              <a:ext uri="{FF2B5EF4-FFF2-40B4-BE49-F238E27FC236}">
                <a16:creationId xmlns:a16="http://schemas.microsoft.com/office/drawing/2014/main" id="{2D4D8DCF-69BE-4481-B624-4D7B437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两条路径</a:t>
            </a:r>
          </a:p>
        </p:txBody>
      </p:sp>
      <p:sp>
        <p:nvSpPr>
          <p:cNvPr id="10" name="s2-base">
            <a:extLst xmlns:a="http://schemas.openxmlformats.org/drawingml/2006/main">
              <a:ext uri="{FF2B5EF4-FFF2-40B4-BE49-F238E27FC236}">
                <a16:creationId xmlns:a16="http://schemas.microsoft.com/office/drawing/2014/main" id="{AC25BDDE-1578-479D-B592-AB24F70A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14668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FDECE9"/>
            </a:solidFill>
            <a:prstDash val="solid"/>
          </a:ln>
        </p:spPr>
      </p:sp>
      <p:sp>
        <p:nvSpPr>
          <p:cNvPr id="11" name="s2-base-t">
            <a:extLst xmlns:a="http://schemas.openxmlformats.org/drawingml/2006/main">
              <a:ext uri="{FF2B5EF4-FFF2-40B4-BE49-F238E27FC236}">
                <a16:creationId xmlns:a16="http://schemas.microsoft.com/office/drawing/2014/main" id="{9F30ADB8-92C1-476F-9A14-85BDE3E5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基线</a:t>
            </a:r>
          </a:p>
          <a:p xmlns:a="http://schemas.openxmlformats.org/drawingml/2006/main">
            <a:pPr algn="ctr">
              <a:defRPr sz="1350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直接相信</a:t>
            </a:r>
          </a:p>
        </p:txBody>
      </p:sp>
      <p:sp>
        <p:nvSpPr>
          <p:cNvPr id="12" name="s2-compare-arrow">
            <a:extLst xmlns:a="http://schemas.openxmlformats.org/drawingml/2006/main">
              <a:ext uri="{FF2B5EF4-FFF2-40B4-BE49-F238E27FC236}">
                <a16:creationId xmlns:a16="http://schemas.microsoft.com/office/drawing/2014/main" id="{77B21F59-2B3A-4C48-B2A5-6CEDF20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1462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A329"/>
          </a:solidFill>
          <a:ln xmlns:a="http://schemas.openxmlformats.org/drawingml/2006/main" w="0">
            <a:solidFill>
              <a:srgbClr val="E0A329"/>
            </a:solidFill>
            <a:prstDash val="solid"/>
          </a:ln>
        </p:spPr>
      </p:sp>
      <p:sp>
        <p:nvSpPr>
          <p:cNvPr id="13" name="s2-candidate">
            <a:extLst xmlns:a="http://schemas.openxmlformats.org/drawingml/2006/main">
              <a:ext uri="{FF2B5EF4-FFF2-40B4-BE49-F238E27FC236}">
                <a16:creationId xmlns:a16="http://schemas.microsoft.com/office/drawing/2014/main" id="{E03823C4-3AF0-421D-9968-F78BFDE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028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</p:sp>
      <p:sp>
        <p:nvSpPr>
          <p:cNvPr id="14" name="s2-candidate-t">
            <a:extLst xmlns:a="http://schemas.openxmlformats.org/drawingml/2006/main">
              <a:ext uri="{FF2B5EF4-FFF2-40B4-BE49-F238E27FC236}">
                <a16:creationId xmlns:a16="http://schemas.microsoft.com/office/drawing/2014/main" id="{839DA31C-2D99-40C8-AAC0-E1B79EEF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98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候选</a:t>
            </a:r>
          </a:p>
          <a:p xmlns:a="http://schemas.openxmlformats.org/drawingml/2006/main">
            <a:pPr algn="ctr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可验证</a:t>
            </a:r>
          </a:p>
        </p:txBody>
      </p:sp>
      <p:sp>
        <p:nvSpPr>
          <p:cNvPr id="15" name="s2-validators">
            <a:extLst xmlns:a="http://schemas.openxmlformats.org/drawingml/2006/main">
              <a:ext uri="{FF2B5EF4-FFF2-40B4-BE49-F238E27FC236}">
                <a16:creationId xmlns:a16="http://schemas.microsoft.com/office/drawing/2014/main" id="{FED95341-876D-44D0-8F65-B9B9039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33800"/>
            <a:ext cx="3619500" cy="18859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6" name="s2-validator-head">
            <a:extLst xmlns:a="http://schemas.openxmlformats.org/drawingml/2006/main">
              <a:ext uri="{FF2B5EF4-FFF2-40B4-BE49-F238E27FC236}">
                <a16:creationId xmlns:a16="http://schemas.microsoft.com/office/drawing/2014/main" id="{B3EB9BB2-5FD8-452E-88E8-D6042AB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检查器的两个门槛</a:t>
            </a:r>
          </a:p>
        </p:txBody>
      </p:sp>
      <p:sp>
        <p:nvSpPr>
          <p:cNvPr id="17" name="s2-v1">
            <a:extLst xmlns:a="http://schemas.openxmlformats.org/drawingml/2006/main">
              <a:ext uri="{FF2B5EF4-FFF2-40B4-BE49-F238E27FC236}">
                <a16:creationId xmlns:a16="http://schemas.microsoft.com/office/drawing/2014/main" id="{267010C7-E404-4C28-9BC8-0ED329B9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048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8" name="s2-v1-t">
            <a:extLst xmlns:a="http://schemas.openxmlformats.org/drawingml/2006/main">
              <a:ext uri="{FF2B5EF4-FFF2-40B4-BE49-F238E27FC236}">
                <a16:creationId xmlns:a16="http://schemas.microsoft.com/office/drawing/2014/main" id="{F4C9C634-4669-4D8B-B97E-17A00009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01  validate_stage  ·  字段 / 时间 / 真实文件</a:t>
            </a:r>
          </a:p>
        </p:txBody>
      </p:sp>
      <p:sp>
        <p:nvSpPr>
          <p:cNvPr id="19" name="s2-v2">
            <a:extLst xmlns:a="http://schemas.openxmlformats.org/drawingml/2006/main">
              <a:ext uri="{FF2B5EF4-FFF2-40B4-BE49-F238E27FC236}">
                <a16:creationId xmlns:a16="http://schemas.microsoft.com/office/drawing/2014/main" id="{A17C14F1-0499-4CBC-A049-49EE175E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0150"/>
            <a:ext cx="3048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</p:sp>
      <p:sp>
        <p:nvSpPr>
          <p:cNvPr id="20" name="s2-v2-t">
            <a:extLst xmlns:a="http://schemas.openxmlformats.org/drawingml/2006/main">
              <a:ext uri="{FF2B5EF4-FFF2-40B4-BE49-F238E27FC236}">
                <a16:creationId xmlns:a16="http://schemas.microsoft.com/office/drawing/2014/main" id="{A0628B6D-6122-4BC6-BDEA-F33693C2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244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02  validate_plan  ·  阶段数 / 总时长 / 关键覆盖</a:t>
            </a:r>
          </a:p>
        </p:txBody>
      </p:sp>
      <p:sp>
        <p:nvSpPr>
          <p:cNvPr id="2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6994DAD6-C96B-4719-B643-0A848F2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2" name="footer-2">
            <a:extLst xmlns:a="http://schemas.openxmlformats.org/drawingml/2006/main">
              <a:ext uri="{FF2B5EF4-FFF2-40B4-BE49-F238E27FC236}">
                <a16:creationId xmlns:a16="http://schemas.microsoft.com/office/drawing/2014/main" id="{59A34550-18F0-449E-B351-D0207D4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DAY 0  /  学习计划检查器</a:t>
            </a:r>
          </a:p>
        </p:txBody>
      </p:sp>
      <p:sp>
        <p:nvSpPr>
          <p:cNvPr id="23" name="page-2">
            <a:extLst xmlns:a="http://schemas.openxmlformats.org/drawingml/2006/main">
              <a:ext uri="{FF2B5EF4-FFF2-40B4-BE49-F238E27FC236}">
                <a16:creationId xmlns:a16="http://schemas.microsoft.com/office/drawing/2014/main" id="{CB9D24AE-DDA3-43A0-90B3-0FEDA07A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5086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744F8C-B7CA-4C55-8157-B3524893C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38150"/>
            <a:ext cx="9334500" cy="66675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最重要证据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C58D2E-5523-46D5-8FD0-220C15AE5B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695450"/>
            <a:ext cx="6477000" cy="4000500"/>
          </a:xfrm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测试通过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python -m unittest discover -s tests -v  →  Ran 5 tests, OK。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计划通过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LEARNING PLAN CHECK PASSED。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真实规模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Day 1 · 8 stages · 180 minutes。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反例被拒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不存在的文件 / 200 分钟 / 缺 candidate。</a:t>
            </a:r>
          </a:p>
        </p:txBody>
      </p:sp>
      <p:sp>
        <p:nvSpPr>
          <p:cNvPr id="4" name="background-band-3">
            <a:extLst xmlns:a="http://schemas.openxmlformats.org/drawingml/2006/main">
              <a:ext uri="{FF2B5EF4-FFF2-40B4-BE49-F238E27FC236}">
                <a16:creationId xmlns:a16="http://schemas.microsoft.com/office/drawing/2014/main" id="{D49C219B-E674-429E-825D-CBD3A74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329"/>
          </a:solidFill>
          <a:ln xmlns:a="http://schemas.openxmlformats.org/drawingml/2006/main" w="0">
            <a:solidFill>
              <a:srgbClr val="E0A329"/>
            </a:solidFill>
            <a:prstDash val="solid"/>
          </a:ln>
        </p:spPr>
      </p:sp>
      <p:sp>
        <p:nvSpPr>
          <p:cNvPr id="5" name="background-top-rule-3">
            <a:extLst xmlns:a="http://schemas.openxmlformats.org/drawingml/2006/main">
              <a:ext uri="{FF2B5EF4-FFF2-40B4-BE49-F238E27FC236}">
                <a16:creationId xmlns:a16="http://schemas.microsoft.com/office/drawing/2014/main" id="{F474FC40-05DB-49FB-8283-32726065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10744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329"/>
          </a:solidFill>
          <a:ln xmlns:a="http://schemas.openxmlformats.org/drawingml/2006/main" w="0">
            <a:solidFill>
              <a:srgbClr val="E0A329"/>
            </a:solidFill>
            <a:prstDash val="solid"/>
          </a:ln>
        </p:spPr>
      </p:sp>
      <p:sp>
        <p:nvSpPr>
          <p:cNvPr id="6" name="tag-约 60 秒">
            <a:extLst xmlns:a="http://schemas.openxmlformats.org/drawingml/2006/main">
              <a:ext uri="{FF2B5EF4-FFF2-40B4-BE49-F238E27FC236}">
                <a16:creationId xmlns:a16="http://schemas.microsoft.com/office/drawing/2014/main" id="{CACC9495-DC78-4D3C-BAFD-C5CA913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24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FF5D9"/>
            </a:solidFill>
            <a:prstDash val="solid"/>
          </a:ln>
        </p:spPr>
        <p:txBody>
          <a:bodyPr xmlns:a="http://schemas.openxmlformats.org/drawingml/2006/main" anchor="ctr">
            <a:normAutofit fontScale="607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0A329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0A329"/>
                </a:solidFill>
                <a:latin typeface="Calibri"/>
                <a:ea typeface="Calibri"/>
                <a:cs typeface="Calibri"/>
              </a:rPr>
              <a:t>约 60 秒</a:t>
            </a:r>
          </a:p>
        </p:txBody>
      </p:sp>
      <p:sp>
        <p:nvSpPr>
          <p:cNvPr id="7" name="s3-subtitle">
            <a:extLst xmlns:a="http://schemas.openxmlformats.org/drawingml/2006/main">
              <a:ext uri="{FF2B5EF4-FFF2-40B4-BE49-F238E27FC236}">
                <a16:creationId xmlns:a16="http://schemas.microsoft.com/office/drawing/2014/main" id="{DEACD606-3702-4DDA-AFDE-A77D030F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不是一条漂亮的输出，而是三条可以复查的证据同时成立。</a:t>
            </a:r>
          </a:p>
        </p:txBody>
      </p:sp>
      <p:sp>
        <p:nvSpPr>
          <p:cNvPr id="8" name="s3-evidence">
            <a:extLst xmlns:a="http://schemas.openxmlformats.org/drawingml/2006/main">
              <a:ext uri="{FF2B5EF4-FFF2-40B4-BE49-F238E27FC236}">
                <a16:creationId xmlns:a16="http://schemas.microsoft.com/office/drawing/2014/main" id="{13C83A03-6F15-4018-9E97-FF9579AC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619500" cy="382905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s3-evidence-head">
            <a:extLst xmlns:a="http://schemas.openxmlformats.org/drawingml/2006/main">
              <a:ext uri="{FF2B5EF4-FFF2-40B4-BE49-F238E27FC236}">
                <a16:creationId xmlns:a16="http://schemas.microsoft.com/office/drawing/2014/main" id="{4E22C17A-6F97-4D60-91CE-5CD33C6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证据链</a:t>
            </a:r>
          </a:p>
        </p:txBody>
      </p:sp>
      <p:sp>
        <p:nvSpPr>
          <p:cNvPr id="10" name="s3-e1">
            <a:extLst xmlns:a="http://schemas.openxmlformats.org/drawingml/2006/main">
              <a:ext uri="{FF2B5EF4-FFF2-40B4-BE49-F238E27FC236}">
                <a16:creationId xmlns:a16="http://schemas.microsoft.com/office/drawing/2014/main" id="{CE123F7A-763B-453E-ADCC-771E2972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04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s3-e1-t">
            <a:extLst xmlns:a="http://schemas.openxmlformats.org/drawingml/2006/main">
              <a:ext uri="{FF2B5EF4-FFF2-40B4-BE49-F238E27FC236}">
                <a16:creationId xmlns:a16="http://schemas.microsoft.com/office/drawing/2014/main" id="{58449FCC-03E0-4C9B-8CCF-44BD861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812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✓ 代码层</a:t>
            </a:r>
          </a:p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5 个单元测试通过</a:t>
            </a:r>
          </a:p>
        </p:txBody>
      </p:sp>
      <p:sp>
        <p:nvSpPr>
          <p:cNvPr id="12" name="s3-e2">
            <a:extLst xmlns:a="http://schemas.openxmlformats.org/drawingml/2006/main">
              <a:ext uri="{FF2B5EF4-FFF2-40B4-BE49-F238E27FC236}">
                <a16:creationId xmlns:a16="http://schemas.microsoft.com/office/drawing/2014/main" id="{E44A5ED1-D9A6-4CAA-B51C-89292FF7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04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</p:sp>
      <p:sp>
        <p:nvSpPr>
          <p:cNvPr id="13" name="s3-e2-t">
            <a:extLst xmlns:a="http://schemas.openxmlformats.org/drawingml/2006/main">
              <a:ext uri="{FF2B5EF4-FFF2-40B4-BE49-F238E27FC236}">
                <a16:creationId xmlns:a16="http://schemas.microsoft.com/office/drawing/2014/main" id="{95B8B619-70C4-4CB9-9E19-AF7792E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✓ 计划层</a:t>
            </a:r>
          </a:p>
          <a:p xmlns:a="http://schemas.openxmlformats.org/drawingml/2006/main">
            <a:pPr algn="l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8 阶段 / 180 分钟</a:t>
            </a:r>
          </a:p>
        </p:txBody>
      </p:sp>
      <p:sp>
        <p:nvSpPr>
          <p:cNvPr id="14" name="s3-e3">
            <a:extLst xmlns:a="http://schemas.openxmlformats.org/drawingml/2006/main">
              <a:ext uri="{FF2B5EF4-FFF2-40B4-BE49-F238E27FC236}">
                <a16:creationId xmlns:a16="http://schemas.microsoft.com/office/drawing/2014/main" id="{A8538510-09DA-42BE-B10B-36C55BFC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048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FF5D9"/>
            </a:solidFill>
            <a:prstDash val="solid"/>
          </a:ln>
        </p:spPr>
      </p:sp>
      <p:sp>
        <p:nvSpPr>
          <p:cNvPr id="15" name="s3-e3-t">
            <a:extLst xmlns:a="http://schemas.openxmlformats.org/drawingml/2006/main">
              <a:ext uri="{FF2B5EF4-FFF2-40B4-BE49-F238E27FC236}">
                <a16:creationId xmlns:a16="http://schemas.microsoft.com/office/drawing/2014/main" id="{0D0166D3-1C3A-4606-B2AD-DC01CE37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338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A329"/>
                </a:solidFill>
                <a:latin typeface="Calibri"/>
                <a:ea typeface="Calibri"/>
                <a:cs typeface="Calibri"/>
              </a:rPr>
              <a:t>✓ 反例层</a:t>
            </a:r>
          </a:p>
          <a:p xmlns:a="http://schemas.openxmlformats.org/drawingml/2006/main">
            <a:pPr algn="l">
              <a:defRPr sz="1350" b="1">
                <a:solidFill>
                  <a:srgbClr val="E0A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A329"/>
                </a:solidFill>
                <a:latin typeface="Calibri"/>
                <a:ea typeface="Calibri"/>
                <a:cs typeface="Calibri"/>
              </a:rPr>
              <a:t>坏计划被明确拒绝</a:t>
            </a:r>
          </a:p>
        </p:txBody>
      </p:sp>
      <p:sp>
        <p:nvSpPr>
          <p:cNvPr id="16" name="s3-files">
            <a:extLst xmlns:a="http://schemas.openxmlformats.org/drawingml/2006/main">
              <a:ext uri="{FF2B5EF4-FFF2-40B4-BE49-F238E27FC236}">
                <a16:creationId xmlns:a16="http://schemas.microsoft.com/office/drawing/2014/main" id="{996B72C9-97A4-4CEC-B14E-AC462709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91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65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证据文件：tests-output.txt · plan-check-passed.txt · bad-plan-check-output.txt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8923CA2-6434-45A4-825E-B26E6CF8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16E2E786-4F83-481F-940C-8808A0A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DAY 0  /  学习计划检查器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B9167DD3-A031-46C3-9CA6-97D61236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5482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4B8302-3868-4053-B6C8-E7F0A4722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438150"/>
            <a:ext cx="9334500" cy="666750"/>
          </a:xfrm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失败、限制与下一问题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32B541-398F-4A5B-BA9B-AD0DF02426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4850" y="1695450"/>
            <a:ext cx="6477000" cy="4000500"/>
          </a:xfrm>
        </p:spPr>
        <p:txBody>
          <a:bodyPr xmlns:a="http://schemas.openxmlformats.org/drawingml/2006/main" lIns="0" tIns="0" rIns="762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真实失败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bad-plan-example.json 被检查器拒绝。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明确边界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检查器证明结构和路径，不证明顺序最优、命令安全或学生理解。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buNone/>
              <a:defRPr sz="1575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下一问题  </a:t>
            </a:r>
            <a:r>
              <a:rPr sz="1575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逐阶段打开计划引用的课程文件，并复述每一步目的。</a:t>
            </a:r>
          </a:p>
        </p:txBody>
      </p:sp>
      <p:sp>
        <p:nvSpPr>
          <p:cNvPr id="4" name="background-band-4">
            <a:extLst xmlns:a="http://schemas.openxmlformats.org/drawingml/2006/main">
              <a:ext uri="{FF2B5EF4-FFF2-40B4-BE49-F238E27FC236}">
                <a16:creationId xmlns:a16="http://schemas.microsoft.com/office/drawing/2014/main" id="{7C66012C-4DCA-4802-9886-4D3A02D3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A5C"/>
          </a:solidFill>
          <a:ln xmlns:a="http://schemas.openxmlformats.org/drawingml/2006/main" w="0">
            <a:solidFill>
              <a:srgbClr val="E66A5C"/>
            </a:solidFill>
            <a:prstDash val="solid"/>
          </a:ln>
        </p:spPr>
      </p:sp>
      <p:sp>
        <p:nvSpPr>
          <p:cNvPr id="5" name="background-top-rule-4">
            <a:extLst xmlns:a="http://schemas.openxmlformats.org/drawingml/2006/main">
              <a:ext uri="{FF2B5EF4-FFF2-40B4-BE49-F238E27FC236}">
                <a16:creationId xmlns:a16="http://schemas.microsoft.com/office/drawing/2014/main" id="{D8D6FC62-2844-4CFB-B648-6C7FB3D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"/>
            <a:ext cx="10744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A5C"/>
          </a:solidFill>
          <a:ln xmlns:a="http://schemas.openxmlformats.org/drawingml/2006/main" w="0">
            <a:solidFill>
              <a:srgbClr val="E66A5C"/>
            </a:solidFill>
            <a:prstDash val="solid"/>
          </a:ln>
        </p:spPr>
      </p:sp>
      <p:sp>
        <p:nvSpPr>
          <p:cNvPr id="6" name="tag-约 45 秒">
            <a:extLst xmlns:a="http://schemas.openxmlformats.org/drawingml/2006/main">
              <a:ext uri="{FF2B5EF4-FFF2-40B4-BE49-F238E27FC236}">
                <a16:creationId xmlns:a16="http://schemas.microsoft.com/office/drawing/2014/main" id="{7E1E34E9-FF2A-4513-AB36-3F14421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52450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FDECE9"/>
            </a:solidFill>
            <a:prstDash val="solid"/>
          </a:ln>
        </p:spPr>
        <p:txBody>
          <a:bodyPr xmlns:a="http://schemas.openxmlformats.org/drawingml/2006/main" anchor="ctr">
            <a:normAutofit fontScale="607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约 45 秒</a:t>
            </a:r>
          </a:p>
        </p:txBody>
      </p:sp>
      <p:sp>
        <p:nvSpPr>
          <p:cNvPr id="7" name="s4-subtitle">
            <a:extLst xmlns:a="http://schemas.openxmlformats.org/drawingml/2006/main">
              <a:ext uri="{FF2B5EF4-FFF2-40B4-BE49-F238E27FC236}">
                <a16:creationId xmlns:a16="http://schemas.microsoft.com/office/drawing/2014/main" id="{44183AF5-4F08-446C-9F8E-9AAD56B0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检查器守住结构边界；学习判断仍然要由学生完成。</a:t>
            </a:r>
          </a:p>
        </p:txBody>
      </p:sp>
      <p:sp>
        <p:nvSpPr>
          <p:cNvPr id="8" name="s4-limits">
            <a:extLst xmlns:a="http://schemas.openxmlformats.org/drawingml/2006/main">
              <a:ext uri="{FF2B5EF4-FFF2-40B4-BE49-F238E27FC236}">
                <a16:creationId xmlns:a16="http://schemas.microsoft.com/office/drawing/2014/main" id="{634F7365-E3F9-42D6-A702-5E16DDE6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619500" cy="382905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s4-limits-head">
            <a:extLst xmlns:a="http://schemas.openxmlformats.org/drawingml/2006/main">
              <a:ext uri="{FF2B5EF4-FFF2-40B4-BE49-F238E27FC236}">
                <a16:creationId xmlns:a16="http://schemas.microsoft.com/office/drawing/2014/main" id="{F597C685-DD49-47BD-9430-EC633DB1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0243E"/>
                </a:solidFill>
                <a:latin typeface="Calibri"/>
                <a:ea typeface="Calibri"/>
                <a:cs typeface="Calibri"/>
              </a:rPr>
              <a:t>从失败走向下一步</a:t>
            </a:r>
          </a:p>
        </p:txBody>
      </p:sp>
      <p:sp>
        <p:nvSpPr>
          <p:cNvPr id="10" name="s4-fail">
            <a:extLst xmlns:a="http://schemas.openxmlformats.org/drawingml/2006/main">
              <a:ext uri="{FF2B5EF4-FFF2-40B4-BE49-F238E27FC236}">
                <a16:creationId xmlns:a16="http://schemas.microsoft.com/office/drawing/2014/main" id="{8951794E-C4BC-46F1-95E0-508BAD0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048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DECE9"/>
          </a:solidFill>
          <a:ln xmlns:a="http://schemas.openxmlformats.org/drawingml/2006/main" w="9525">
            <a:solidFill>
              <a:srgbClr val="FDECE9"/>
            </a:solidFill>
            <a:prstDash val="solid"/>
          </a:ln>
        </p:spPr>
      </p:sp>
      <p:sp>
        <p:nvSpPr>
          <p:cNvPr id="11" name="s4-fail-t">
            <a:extLst xmlns:a="http://schemas.openxmlformats.org/drawingml/2006/main">
              <a:ext uri="{FF2B5EF4-FFF2-40B4-BE49-F238E27FC236}">
                <a16:creationId xmlns:a16="http://schemas.microsoft.com/office/drawing/2014/main" id="{8662D2DD-99DC-4BCC-B1BC-FB324F62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失败</a:t>
            </a:r>
          </a:p>
          <a:p xmlns:a="http://schemas.openxmlformats.org/drawingml/2006/main">
            <a:pPr algn="l">
              <a:defRPr sz="1350" b="1">
                <a:solidFill>
                  <a:srgbClr val="E66A5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66A5C"/>
                </a:solidFill>
                <a:latin typeface="Calibri"/>
                <a:ea typeface="Calibri"/>
                <a:cs typeface="Calibri"/>
              </a:rPr>
              <a:t>坏计划被拒绝</a:t>
            </a:r>
          </a:p>
        </p:txBody>
      </p:sp>
      <p:sp>
        <p:nvSpPr>
          <p:cNvPr id="12" name="s4-boundary">
            <a:extLst xmlns:a="http://schemas.openxmlformats.org/drawingml/2006/main">
              <a:ext uri="{FF2B5EF4-FFF2-40B4-BE49-F238E27FC236}">
                <a16:creationId xmlns:a16="http://schemas.microsoft.com/office/drawing/2014/main" id="{C6A23B85-53E2-454D-A21E-6A2AFE0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0480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FF5D9"/>
            </a:solidFill>
            <a:prstDash val="solid"/>
          </a:ln>
        </p:spPr>
      </p:sp>
      <p:sp>
        <p:nvSpPr>
          <p:cNvPr id="13" name="s4-boundary-t">
            <a:extLst xmlns:a="http://schemas.openxmlformats.org/drawingml/2006/main">
              <a:ext uri="{FF2B5EF4-FFF2-40B4-BE49-F238E27FC236}">
                <a16:creationId xmlns:a16="http://schemas.microsoft.com/office/drawing/2014/main" id="{FA9A0399-4791-4668-908B-090E0B64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A329"/>
                </a:solidFill>
                <a:latin typeface="Calibri"/>
                <a:ea typeface="Calibri"/>
                <a:cs typeface="Calibri"/>
              </a:rPr>
              <a:t>边界</a:t>
            </a:r>
          </a:p>
          <a:p xmlns:a="http://schemas.openxmlformats.org/drawingml/2006/main">
            <a:pPr algn="l">
              <a:defRPr sz="1350" b="1">
                <a:solidFill>
                  <a:srgbClr val="E0A32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0A329"/>
                </a:solidFill>
                <a:latin typeface="Calibri"/>
                <a:ea typeface="Calibri"/>
                <a:cs typeface="Calibri"/>
              </a:rPr>
              <a:t>AI 建议 ≠ 证据</a:t>
            </a:r>
          </a:p>
        </p:txBody>
      </p:sp>
      <p:sp>
        <p:nvSpPr>
          <p:cNvPr id="14" name="s4-next">
            <a:extLst xmlns:a="http://schemas.openxmlformats.org/drawingml/2006/main">
              <a:ext uri="{FF2B5EF4-FFF2-40B4-BE49-F238E27FC236}">
                <a16:creationId xmlns:a16="http://schemas.microsoft.com/office/drawing/2014/main" id="{46BCD9C6-72D9-4EFD-BE9F-7D7DF78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F7F3"/>
          </a:solidFill>
          <a:ln xmlns:a="http://schemas.openxmlformats.org/drawingml/2006/main" w="9525">
            <a:solidFill>
              <a:srgbClr val="E6F7F3"/>
            </a:solidFill>
            <a:prstDash val="solid"/>
          </a:ln>
        </p:spPr>
      </p:sp>
      <p:sp>
        <p:nvSpPr>
          <p:cNvPr id="15" name="s4-next-t">
            <a:extLst xmlns:a="http://schemas.openxmlformats.org/drawingml/2006/main">
              <a:ext uri="{FF2B5EF4-FFF2-40B4-BE49-F238E27FC236}">
                <a16:creationId xmlns:a16="http://schemas.microsoft.com/office/drawing/2014/main" id="{54D4BF3A-A887-4E17-B384-04ACCF9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下一步</a:t>
            </a:r>
          </a:p>
          <a:p xmlns:a="http://schemas.openxmlformats.org/drawingml/2006/main">
            <a:pPr algn="l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打开真实课程文件</a:t>
            </a:r>
          </a:p>
          <a:p xmlns:a="http://schemas.openxmlformats.org/drawingml/2006/main">
            <a:pPr algn="l">
              <a:defRPr sz="1350" b="1">
                <a:solidFill>
                  <a:srgbClr val="0F9D8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F9D8A"/>
                </a:solidFill>
                <a:latin typeface="Calibri"/>
                <a:ea typeface="Calibri"/>
                <a:cs typeface="Calibri"/>
              </a:rPr>
              <a:t>复述每一步的目的</a:t>
            </a:r>
          </a:p>
        </p:txBody>
      </p:sp>
      <p:sp>
        <p:nvSpPr>
          <p:cNvPr id="16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D3A992E7-6E08-4FD1-9698-276E6ABE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7" name="footer-4">
            <a:extLst xmlns:a="http://schemas.openxmlformats.org/drawingml/2006/main">
              <a:ext uri="{FF2B5EF4-FFF2-40B4-BE49-F238E27FC236}">
                <a16:creationId xmlns:a16="http://schemas.microsoft.com/office/drawing/2014/main" id="{974F6356-8205-4EB6-B2EB-C3B5734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DAY 0  /  学习计划检查器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9FCCF6E3-7148-47FD-A9BC-A5E9D79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846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2657D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52657D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75157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2026-08-16T16:12:07.0900000Z</dcterms:created>
  <dcterms:modified xsi:type="dcterms:W3CDTF">2026-08-16T16:12:07.0900000Z</dcterms:modified>
</coreProperties>
</file>